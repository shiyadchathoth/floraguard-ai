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tCgQgWGNJ2CH61DAp2WPuqWhU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8" Type="http://customschemas.google.com/relationships/presentationmetadata" Target="metadata"/><Relationship Id="rId27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ac1082f62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ac1082f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ac1082f62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ac1082f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ac1082f6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ac1082f6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ac1082f62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ac1082f6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95275" y="1549747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FloraGuard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862262" y="2494508"/>
            <a:ext cx="6467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Intelligent Mobile Application for Plant Disease Detection &amp; Care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1500" y="5031878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Project Guide: </a:t>
            </a:r>
            <a:r>
              <a:rPr b="1" lang="en-US" sz="22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Jinsha 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278425" y="3362850"/>
            <a:ext cx="605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Abhiroop 						Sourav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Sohin 							Abhiram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bac1082f62_0_11" title="Screenshot 2026-01-18 2247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32217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3087"/>
            <a:ext cx="2547937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843087"/>
            <a:ext cx="2547937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43087"/>
            <a:ext cx="2547937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1843087"/>
            <a:ext cx="2547937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907851" y="3081337"/>
            <a:ext cx="187523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Soil Composition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952500" y="3967162"/>
            <a:ext cx="178593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Specific soil types and pH requirements for optimal growth and root health.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741539" y="3081337"/>
            <a:ext cx="187523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Watering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3786187" y="3967162"/>
            <a:ext cx="178593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Precise hydration intervals and volume based on plant stage and species.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6575226" y="3081337"/>
            <a:ext cx="187523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Light Exposure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619875" y="3967162"/>
            <a:ext cx="178593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Sunlight intensity and duration needed (Full Sun vs. Partial Shade).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9408914" y="3081337"/>
            <a:ext cx="187523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Nutrient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453562" y="3967162"/>
            <a:ext cx="178593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Recommended fertilizer types (Organic/Synthetic) and application timing.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1" name="Google Shape;11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7343" y="23193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8181" y="231933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74718" y="23193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36981" y="231933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800100" y="571500"/>
            <a:ext cx="1136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Plant Care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bac1082f62_0_15" title="Screenshot 2026-01-18 2248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50567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bac1082f62_0_2" title="Screenshot 2026-01-18 2248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09296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3476550" y="2604422"/>
            <a:ext cx="523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lang="en-US" sz="120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100</a:t>
            </a:r>
            <a:r>
              <a:rPr b="1" i="0" lang="en-US" sz="120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3476550" y="4519612"/>
            <a:ext cx="523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Offline Capabilit</a:t>
            </a:r>
            <a:r>
              <a:rPr b="1" lang="en-US" sz="2250">
                <a:solidFill>
                  <a:srgbClr val="064E3B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6381750" y="4371975"/>
            <a:ext cx="523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800100" y="571500"/>
            <a:ext cx="1136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Project Benefit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4046700" y="5057175"/>
            <a:ext cx="4098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AI diagnostic features work without internet connection</a:t>
            </a:r>
            <a:endParaRPr i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bac1082f62_0_19" title="Screenshot 2026-01-18 2248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11143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 txBox="1"/>
          <p:nvPr/>
        </p:nvSpPr>
        <p:spPr>
          <a:xfrm>
            <a:off x="571500" y="1576387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Road Ahead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571500" y="25765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Expansion: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Support for rare and medicinal plant species.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571500" y="30241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Multi-language interface for rural global farmers.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571500" y="37766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571500" y="3905013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Smart Alerts: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Weather-based care advice integrated with local APIs.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3" name="Google Shape;1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/>
          <p:nvPr/>
        </p:nvSpPr>
        <p:spPr>
          <a:xfrm>
            <a:off x="571500" y="226516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71500" y="304993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571500" y="383470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571500" y="38251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571500" y="38251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571500" y="46099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571500" y="46099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571575" y="2408050"/>
            <a:ext cx="11049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N. Nigar, A. Jaleel, S. Islam, M. K. Shahzad, and E. A. Affum, "IoMT meets machine learning: From edge to cloud chronic diseases diagnosis system," J. Healthcare Eng., vol. 2023, no. 1, 2023, Art. no.</a:t>
            </a:r>
            <a:endParaRPr b="0" i="0" sz="14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1666875" y="2653754"/>
            <a:ext cx="995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571575" y="3192800"/>
            <a:ext cx="11049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Z. Li, F. Liu, W. Yang, S. Peng, and J. Zhou, "A survey of convolutional neural networks: Analysis, applications, and prospects," IEEE Trans. Neural Netw. Learn. Syst., vol. 33, no. 12, pp. 6999-7019, Dec. 2022</a:t>
            </a:r>
            <a:r>
              <a:rPr lang="en-US" sz="9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571575" y="3912176"/>
            <a:ext cx="1104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M. H. K. Mehedi, A. K. M. S. Hosain, S. Ahmed, S. T. Promita, R. K. Muna, M. Hasan, and 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T. Reza, "Plant leaf disease detection using transfer learning and explainable Al," in Proc. IEEE 13th Annu.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Inf. Technol., Electron. Mobile Commun. Conf. (IEMCON), Oct. 2022</a:t>
            </a:r>
            <a:endParaRPr sz="1200"/>
          </a:p>
        </p:txBody>
      </p:sp>
      <p:sp>
        <p:nvSpPr>
          <p:cNvPr id="172" name="Google Shape;172;p12"/>
          <p:cNvSpPr txBox="1"/>
          <p:nvPr/>
        </p:nvSpPr>
        <p:spPr>
          <a:xfrm>
            <a:off x="571575" y="4762350"/>
            <a:ext cx="110490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10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-US" sz="10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S. S. Harakannanavar, J. M. Rudagi, V. I. Puranikmath, A.</a:t>
            </a:r>
            <a:endParaRPr sz="107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Siddiqua, and R. Pramodhini, "Plant leaf disease detection using computer vision and machine learning algorithms," Global Transitions Proc., vol. 3, </a:t>
            </a:r>
            <a:endParaRPr sz="107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June 2022</a:t>
            </a:r>
            <a:endParaRPr sz="107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sz="97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800100" y="571500"/>
            <a:ext cx="1136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 txBox="1"/>
          <p:nvPr/>
        </p:nvSpPr>
        <p:spPr>
          <a:xfrm>
            <a:off x="295275" y="1364902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b="1" i="0" lang="en-US" sz="67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571500" y="2946052"/>
            <a:ext cx="1104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300"/>
              <a:t>For your attention &amp; time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3524250" y="5045273"/>
            <a:ext cx="10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Abhiroop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4905375" y="5045273"/>
            <a:ext cx="10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Sourav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6286500" y="5045273"/>
            <a:ext cx="10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Sohin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667625" y="5045273"/>
            <a:ext cx="10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Abhiram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